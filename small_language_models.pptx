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240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0" y="0"/>
            <a:ext cx="1554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70848" y="0"/>
            <a:ext cx="73152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321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LANGUAGE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Agentic &amp; Enterprise AI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32104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4924" y="356616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4924" y="35661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05356" y="356616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05356" y="35661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75788" y="356616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75788" y="35661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Efficiency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46220" y="356616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46220" y="35661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6652" y="356616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6652" y="35661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87084" y="356616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87084" y="35661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57516" y="356616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57516" y="35661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NVIDIA — "Small Language Models are the Future of Agentic AI"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SLMs: Right-Sized Intelligence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64008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Overkill for Structured Tasks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27101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models bring massive overhead to workflows with clearly defined steps — slow, expensive, and often imprecise.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64008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965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SLMs: Purpose-Built &amp; Efficient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27685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models trained on focused domains consistently outperform LLMs on narrow, well-scoped tasks.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64008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Core Thesis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28269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NVIDIA's research argues SLMs are the future of agentic AI — delivering competitive accuracy at a fraction of the cost.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777240"/>
            <a:ext cx="1737360" cy="2743200"/>
          </a:xfrm>
          <a:prstGeom prst="rect">
            <a:avLst/>
          </a:prstGeom>
          <a:solidFill>
            <a:srgbClr val="FFECEC"/>
          </a:solidFill>
          <a:ln w="254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0" y="777240"/>
            <a:ext cx="1737360" cy="4572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777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1298448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70–175B Parameters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Latency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Generalist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17373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0" y="1325880"/>
            <a:ext cx="1463040" cy="1920240"/>
          </a:xfrm>
          <a:prstGeom prst="rect">
            <a:avLst/>
          </a:prstGeom>
          <a:solidFill>
            <a:srgbClr val="E0F7FA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0" y="1325880"/>
            <a:ext cx="146304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0" y="17830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1–8B Parameters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840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AI for right-sized problems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Small Doesn't Mean Weak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benchmarks from NVIDIA's research on Small Language Models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14800" cy="1737360"/>
          </a:xfrm>
          <a:prstGeom prst="rect">
            <a:avLst/>
          </a:prstGeom>
          <a:solidFill>
            <a:srgbClr val="E3F2FD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73152" cy="1737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20700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Hymba-1.5B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5087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3.5×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30352" y="2048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Throughput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47088" y="1508760"/>
            <a:ext cx="2450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Mamba-attention hybrid. Outperforms 13B models on instruction following — at just 1.5B parameters.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115568"/>
            <a:ext cx="4114800" cy="1737360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115568"/>
            <a:ext cx="73152" cy="1737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10912" y="120700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DeepSeek-R1-Distill-Qwen-7B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10912" y="1508759"/>
            <a:ext cx="1188720" cy="1234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010912" y="2048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27648" y="1508760"/>
            <a:ext cx="2450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Claude-3.5-Sonnet and GPT-4o on commonsense reasoning benchmarks. 7B parameters.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54096"/>
            <a:ext cx="4114800" cy="173736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054096"/>
            <a:ext cx="73152" cy="1737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14553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RETRO-7.5B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44728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25×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30352" y="3986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47088" y="3447288"/>
            <a:ext cx="2450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GPT-3 (175B) on language modeling via retrieval augmentation. Just 7.5B parameters.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3054096"/>
            <a:ext cx="4114800" cy="173736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3054096"/>
            <a:ext cx="73152" cy="1737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10912" y="314553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xLAM-2-8B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10912" y="344728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010912" y="3986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27648" y="3447288"/>
            <a:ext cx="2450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on agentic tool calling at 8B parameters. Surpasses GPT-4o and Claude.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Efficiency: The Economics of SLMs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566160" cy="3200400"/>
          </a:xfrm>
          <a:prstGeom prst="rect">
            <a:avLst/>
          </a:prstGeom>
          <a:solidFill>
            <a:srgbClr val="0077B6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10–30×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70–175B LLMs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9809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latency, energy consumption &amp; FLOPs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914400"/>
            <a:ext cx="4572000" cy="9875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51960" y="914400"/>
            <a:ext cx="64008" cy="9875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07408" y="9875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at Scale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07408" y="129844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Dynamo, llama.cpp as well as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provides high-throughput, low-latency SLM inference for both cloud and edge. Real-time agentic responses become economically viable.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993392"/>
            <a:ext cx="4572000" cy="9875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51960" y="1993392"/>
            <a:ext cx="64008" cy="9875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07408" y="20665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in Hours, Not Weeks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07408" y="237744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and DoRA fine-tuning requires only a few GPU-hours — add, fix, or specialize model behavior overnight.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51960" y="3072384"/>
            <a:ext cx="4572000" cy="9875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51960" y="3072384"/>
            <a:ext cx="64008" cy="9875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07408" y="31455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Infrastructure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07408" y="345643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multi-GPU parallelization required. Less maintenance overhead, lower operational costs, and easier deployment.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NVIDIA — Small Language Models are the Future of Agentic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Enterprise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never leaves your walls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49440" y="685800"/>
            <a:ext cx="1828800" cy="1828800"/>
          </a:xfrm>
          <a:prstGeom prst="ellipse">
            <a:avLst/>
          </a:prstGeom>
          <a:solidFill>
            <a:srgbClr val="00B4D8">
              <a:alpha val="12000"/>
            </a:srgbClr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49440" y="685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78040" y="914400"/>
            <a:ext cx="1371600" cy="1371600"/>
          </a:xfrm>
          <a:prstGeom prst="ellipse">
            <a:avLst/>
          </a:prstGeom>
          <a:solidFill>
            <a:srgbClr val="0077B6">
              <a:alpha val="25000"/>
            </a:srgbClr>
          </a:solidFill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78040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143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&amp; Air-Gapped Deployment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4356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entirely within your own infrastructure. No cloud dependency, no external API calls. 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12264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02082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Exposure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231343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data, customer records, and sensitive documents never leave the enterprise boundary. No third-party ever processes your information.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9008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28986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 by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19125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GDPR, HIPAA, and internal data governance requirements by architecture — not configuration.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6791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7764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Confidential Data Safely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0690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domain-specific models on proprietary datasets entirely in-house. Retain full IP ownership.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Applications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 as specialized agents in multi-step pipelines — each scoped, fast, and controllable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07008" y="1069848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07008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22376" y="1417320"/>
            <a:ext cx="1261872" cy="822960"/>
          </a:xfrm>
          <a:prstGeom prst="rect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2376" y="1472184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Parse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" y="200253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84248" y="1828800"/>
            <a:ext cx="34747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16352" y="1069848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1635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31720" y="1417320"/>
            <a:ext cx="1261872" cy="822960"/>
          </a:xfrm>
          <a:prstGeom prst="rect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31720" y="1472184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200253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/ Type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93592" y="1828800"/>
            <a:ext cx="34747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25696" y="1069848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25696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41064" y="1417320"/>
            <a:ext cx="1261872" cy="822960"/>
          </a:xfrm>
          <a:prstGeom prst="rect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41064" y="1472184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41064" y="200253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Info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02936" y="1828800"/>
            <a:ext cx="34747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35040" y="1069848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35040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50408" y="1417320"/>
            <a:ext cx="1261872" cy="822960"/>
          </a:xfrm>
          <a:prstGeom prst="rect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50408" y="1472184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50408" y="200253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12280" y="1828800"/>
            <a:ext cx="34747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644384" y="1069848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44384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59752" y="1417320"/>
            <a:ext cx="1261872" cy="822960"/>
          </a:xfrm>
          <a:prstGeom prst="rect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59752" y="1472184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59752" y="200253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Workflow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06908" y="2487168"/>
            <a:ext cx="2606040" cy="129844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06908" y="2487168"/>
            <a:ext cx="26060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4068" y="26151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Orchestration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" y="296265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a small, fast model — not a costly frontier LLM call per step.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68980" y="2487168"/>
            <a:ext cx="2606040" cy="129844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68980" y="2487168"/>
            <a:ext cx="26060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406140" y="26151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Behavior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06140" y="296265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agents hallucinate less. Narrow inputs yield controlled, auditable outputs.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31052" y="2487168"/>
            <a:ext cx="2606040" cy="129844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31052" y="2487168"/>
            <a:ext cx="26060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68212" y="26151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Agentic Tasks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68212" y="296265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xLAM-2-8B achieves SOTA tool-calling at 8B, surpassing GPT-4o and Claude.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3950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"Each agent stays in its lane — scoped, specialized, and sovereign."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Document Intelligence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977640"/>
          </a:xfrm>
          <a:prstGeom prst="rect">
            <a:avLst/>
          </a:prstGeom>
          <a:solidFill>
            <a:srgbClr val="E3F2FD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5303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352" y="102412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" y="1005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Summarization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536192"/>
            <a:ext cx="3803904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 lengthy contracts, reports, and research papers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output: key findings, decisions, action items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fine-tuned: legal, medical, financial use cases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on-premise — sensitive documents stay internal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379976"/>
            <a:ext cx="4206240" cy="512064"/>
          </a:xfrm>
          <a:prstGeom prst="rect">
            <a:avLst/>
          </a:prstGeom>
          <a:solidFill>
            <a:srgbClr val="0077B6">
              <a:alpha val="82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4379976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decisions. Less reading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4206240" cy="3977640"/>
          </a:xfrm>
          <a:prstGeom prst="rect">
            <a:avLst/>
          </a:prstGeom>
          <a:solidFill>
            <a:srgbClr val="EDE7F6"/>
          </a:solidFill>
          <a:ln w="19050">
            <a:solidFill>
              <a:srgbClr val="5E35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4206240" cy="53035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10912" y="102412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10912" y="10241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96128" y="1005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OCR Solutions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47488" y="1536192"/>
            <a:ext cx="3803904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structured text from scanned documents and images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air-gapped — no internet or cloud connectivity required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regulated industries and remote field environments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4379976"/>
            <a:ext cx="4206240" cy="512064"/>
          </a:xfrm>
          <a:prstGeom prst="rect">
            <a:avLst/>
          </a:prstGeom>
          <a:solidFill>
            <a:srgbClr val="5E35B1">
              <a:alpha val="82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0912" y="4379976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Edge-ready. No connectivity needed.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Understanding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977640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5303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352" y="102412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" y="1005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&amp; Sentiment Classification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536192"/>
            <a:ext cx="3803904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user intent in customer service and chatbot pipelines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sentiment classification: positive, negative, neutral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— sub-millisecond inference for high-volume streams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Fine-tunable on domain-specific language and terminology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379976"/>
            <a:ext cx="4206240" cy="512064"/>
          </a:xfrm>
          <a:prstGeom prst="rect">
            <a:avLst/>
          </a:prstGeom>
          <a:solidFill>
            <a:srgbClr val="00897B">
              <a:alpha val="82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4379976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users. Instantly.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4206240" cy="39776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4206240" cy="5303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10912" y="102412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10912" y="10241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96128" y="1005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47488" y="1536192"/>
            <a:ext cx="3803904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product, content, and service recommendations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structured signals — no LLM overhead required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low-cost inference for millions of daily requests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private — user data never leaves your infrastructure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4379976"/>
            <a:ext cx="4206240" cy="512064"/>
          </a:xfrm>
          <a:prstGeom prst="rect">
            <a:avLst/>
          </a:prstGeom>
          <a:solidFill>
            <a:srgbClr val="E65100">
              <a:alpha val="82000"/>
            </a:srgbClr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0912" y="4379976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Relevant. Fast. Private.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SLMs. Why Now.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9105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Maturity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56816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llama.cpp make SLM deployment — cloud or edge — production-ready today.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00300" y="1097280"/>
            <a:ext cx="0" cy="169164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0972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59105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956816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 at 7–8B parameters already beat frontier LLMs on tool calling, reasoning, and instruction following.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94860" y="1097280"/>
            <a:ext cx="0" cy="169164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0972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159105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956816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deployment means full control — no third-party risk, no compliance compromise.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89420" y="1097280"/>
            <a:ext cx="0" cy="169164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10972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49440" y="159105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at Scale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1956816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10–30× cost reduction per inference makes AI viable across high-volume, real-time workflows.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24612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822</Words>
  <Application>Microsoft Office PowerPoint</Application>
  <PresentationFormat>On-screen Show (16:9)</PresentationFormat>
  <Paragraphs>150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 Language Models</dc:title>
  <dc:subject>PptxGenJS Presentation</dc:subject>
  <dc:creator>PptxGenJS</dc:creator>
  <cp:lastModifiedBy>Bilal Mustafa Rana</cp:lastModifiedBy>
  <cp:revision>3</cp:revision>
  <dcterms:created xsi:type="dcterms:W3CDTF">2026-02-24T18:09:46Z</dcterms:created>
  <dcterms:modified xsi:type="dcterms:W3CDTF">2026-02-25T09:40:17Z</dcterms:modified>
</cp:coreProperties>
</file>